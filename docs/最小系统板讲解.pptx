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4.svg" ContentType="image/svg+xml"/>
  <Override PartName="/ppt/media/image72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80" r:id="rId18"/>
    <p:sldId id="281" r:id="rId19"/>
    <p:sldId id="282" r:id="rId20"/>
    <p:sldId id="271" r:id="rId21"/>
    <p:sldId id="272" r:id="rId22"/>
    <p:sldId id="273" r:id="rId23"/>
    <p:sldId id="275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分享。今天我们将一起深入探索一个在嵌入式开发中至关重要的概念——最小系统板。无论你是电子爱好者，还是初入职场的工程师，理解最小系统板的原理都将为你的项目打下坚实的基础。本次分享将从最基本的电路原理开始，一步步带你揭开它的神秘面纱，并最终通过一个简单的实战案例，让你真正做到学以致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分享的主要内容。首先，我们会明确什么是最小系统板。接着，我们将逐一解析它的五大核心电路：电源、时钟、复位、启动和下载电路。理论结合实际，我们还会进行一个LED闪烁的实战实验。最后，我们将对今天的内容进行总结，并对未来的学习方向提出一些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最小系统板呢？顾名思义，它就是一个“刚刚好”的电路集合，不多不少，正好能让微控制器，也就是我们常说的MCU，正常工作。它就像是一个电子产品的“裸奔”版本，没有华丽的外壳和丰富的外设，但它拥有最核心的生命力。正如大家在右图看到的，这就是一块非常典型的STM32最小系统板。它的组成通常包括MCU本身，以及为其提供能量、心跳、重启、启动和编程功能的五大核心电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我们深入每个细节之前，请看这张图。这是最小系统板的整体原理图。大家可以看到，所有的电路都围绕着中间的MCU展开。我们今天的任务，就是把这张图上的每一个关键部分都搞清楚。从为系统供电的电源电路，到提供精准节拍的时钟电路，再到负责重启的复位电路，以及决定程序从何启动的启动电路和连接电脑的下载电路。它们共同协作，构成了一个完整的、能独立运行的最小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电源电路，它是整个系统的“心脏”，为所有部件提供稳定的“血液”——电力。大家看左边的原理图，最常见的设计是通过USB接口获取5V电压，然后通过一个名为AMS1117-3.3的芯片，将不稳定的5V电压“驯服”成平稳的3.3V，供给MCU使用。这个AMS1117芯片就像一个不知疲倦的管家，时刻监控着输出电压，确保它始终精确地维持在3.3V，为MCU的稳定运行提供坚实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这一页我们来认识一下电源电路中的两位“主角”。右边这张图是大家非常熟悉的USB Type-C接口，它负责将外部电源引入板中。而左边这个不起眼的黑色小芯片，就是我们刚才提到的AMS1117-3.3稳压器。它虽然个头小，但责任重大，是实现电压转换的关键。正是这两个元件的默契配合，才保证了我们的MCU能够获得纯净、稳定的电力供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看时钟电路，它为整个系统提供了精准的“心跳”。MCU就像一个精密的工厂，内部有成千上万个晶体管在协同工作。要让它们步调一致，就必须有一个统一的“节拍器”，这就是时钟电路的作用。如右图所示，我们的最小系统板上通常有两个晶振：一个是8MHz的高速晶振，负责给CPU提供强劲的动力；另一个是32.768kHz的低速晶振，专门用于计时，即使在系统休眠时也能低功耗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时钟电路的核心元件就是我们看到的这个金属封装的小元件——晶振。它利用了石英晶体的压电效应，能够产生频率非常稳定的电信号，就像一个高精度的“节拍器”。为了让这个节拍器的频率完全符合我们的要求，工程师们会在它的旁边并联两个小小的电容，也就是负载电容，来进行精确的频率校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来看看复位电路。顾名思义，它就是用来让系统“重启”的。大家看左边的电路图，这是一个非常经典的RC复位电路。当我们给系统上电时，电容会开始充电，这个过程会在复位引脚上产生一个短暂的高电平，告诉MCU“从头开始”。当我们需要手动重启时，按下复位按钮，电容会迅速放电，同样会产生一个复位信号。这个简单的电路，保证了我们的系统在任何时候都能“满血复活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复位电路的关键元件非常简单，就是我们常见的复位按钮、一个电容和一个电阻。复位按钮负责接收我们的手动指令。电容是实现延时功能的核心，它就像一个蓄水池，充放电需要时间，这个时间差就是复位信号持续的时间。而电阻则负责限流和上拉，确保整个电路的稳定可靠。这三个元件的组合，构成了复位电路的“铁三角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个核心电路是启动电路，它决定了我们的MCU在开机后，从哪里读取并执行程序。STM32提供了三种启动模式，这是通过BOOT0和BOOT1两个引脚的高低电平来设置的。如右侧表格所示，最常用的模式是BOOT0=0，也就是从主闪存启动，这是我们正常运行程序的模式。当我们需要给MCU下载新程序时，通常会用到BOOT0=1的串口下载模式。而BOOT1=1的SRAM模式，则主要用于程序的调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会了启动模式，我们如何把程序下载到MCU里呢？这就需要下载电路了。它是我们和MCU“对话”的桥梁。现在最常用的是左边原理图展示的SWD模式，它只需要两根线，就能实现快速的程序下载和调试。当然，我们也可以使用传统的UART串口方式。无论哪种方式，下载电路的作用都是建立起电脑和MCU之间的通信，让我们的代码能够在硬件上跑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为了将程序下载到芯片中并进行调试，我们需要一个编程/调试接口。目前最常用的是SWD接口，它只需要两根线（SWDIO和SWCLK）就可以实现高速的程序下载和在线调试功能，非常方便。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为了将程序下载到芯片中并进行调试，我们需要一个编程/调试接口。目前最常用的是SWD接口，它只需要两根线（SWDIO和SWCLK）就可以实现高速的程序下载和在线调试功能，非常方便。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为了将程序下载到芯片中并进行调试，我们需要一个编程/调试接口。目前最常用的是SWD接口，它只需要两根线（SWDIO和SWCLK）就可以实现高速的程序下载和在线调试功能，非常方便。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来回顾一下今天的核心内容。我们详细拆解了最小系统板的五大核心电路：为系统提供能量的电源电路；提供精准节拍的时钟电路；负责重启的复位电路；决定启动方式的启动电路；以及连接电脑的下载电路。这五个部分各司其职，缺一不可，共同构成了MCU能够独立运行的最小环境。掌握了它们，就掌握了嵌入式开发的敲门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学习最小系统板有什么用呢？它的应用可以说是无处不在。从我们身边的智能家居，到工厂里的工业控制；从连接万物的物联网，到灵活智能的机器人；再到我们手腕上的可穿戴设备，其核心都是一个或多个功能强大的嵌入式系统，而这些系统的起点，正是我们今天所学习的最小系统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的旅程永无止境。掌握了最小系统板的基础知识后，你可以继续探索更广阔的嵌入式世界。比如，学习如何驱动各种外设，让你的MCU能够与更多的硬件模块对话；或者学习使用实时操作系统（RTOS），来管理更复杂的任务；你还可以深入研究USB、以太网等高级通信协议，让你的设备具备联网能力。此外，低功耗设计也是一个非常有价值的研究方向。希望今天的分享能成为你探索之旅的一个良好开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非常感谢大家的耐心聆听，希望这次分享能对你有所帮助。谢谢！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感谢观看！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jpeg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0.sv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image" Target="../media/image2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0.jpe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image" Target="../media/image39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1.jpe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image" Target="../media/image4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49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image" Target="../media/image5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svg"/><Relationship Id="rId8" Type="http://schemas.openxmlformats.org/officeDocument/2006/relationships/image" Target="../media/image63.png"/><Relationship Id="rId7" Type="http://schemas.openxmlformats.org/officeDocument/2006/relationships/image" Target="../media/image30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66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6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6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68.png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65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73.pn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30.svg"/><Relationship Id="rId4" Type="http://schemas.openxmlformats.org/officeDocument/2006/relationships/image" Target="../media/image62.png"/><Relationship Id="rId3" Type="http://schemas.openxmlformats.org/officeDocument/2006/relationships/image" Target="../media/image28.svg"/><Relationship Id="rId2" Type="http://schemas.openxmlformats.org/officeDocument/2006/relationships/image" Target="../media/image70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4.svg"/><Relationship Id="rId10" Type="http://schemas.openxmlformats.org/officeDocument/2006/relationships/image" Target="../media/image63.png"/><Relationship Id="rId1" Type="http://schemas.openxmlformats.org/officeDocument/2006/relationships/image" Target="../media/image69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4.svg"/><Relationship Id="rId6" Type="http://schemas.openxmlformats.org/officeDocument/2006/relationships/image" Target="../media/image73.png"/><Relationship Id="rId5" Type="http://schemas.openxmlformats.org/officeDocument/2006/relationships/image" Target="../media/image78.jpeg"/><Relationship Id="rId4" Type="http://schemas.openxmlformats.org/officeDocument/2006/relationships/image" Target="../media/image77.jpeg"/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image" Target="../media/image7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32.svg"/><Relationship Id="rId3" Type="http://schemas.openxmlformats.org/officeDocument/2006/relationships/image" Target="../media/image79.png"/><Relationship Id="rId2" Type="http://schemas.openxmlformats.org/officeDocument/2006/relationships/image" Target="../media/image59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最小系统板深度解析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33655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从电路原理到实战应用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459">
            <a:off x="4191011" y="5327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0595" y="3022600"/>
            <a:ext cx="10225405" cy="4213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主讲人：</a:t>
            </a:r>
            <a:r>
              <a:rPr lang="zh-CN" altLang="en-US" sz="2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李让飞</a:t>
            </a:r>
            <a:endParaRPr lang="zh-CN" altLang="en-US" sz="28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2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2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制作：胡凯旋</a:t>
            </a:r>
            <a:endParaRPr lang="zh-CN" altLang="en-US" sz="28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2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2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审核：廖子聪</a:t>
            </a:r>
            <a:endParaRPr lang="zh-CN" altLang="en-US" sz="28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663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什么是最小系统板？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413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2425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核心电路解析：电源电路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17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3187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核心电路解析：时钟电路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393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3949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核心电路解析：复位电路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3629">
            <a:off x="4762500" y="2978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1651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1663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核心电路解析：启动电路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241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2425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核心电路解析：下载电路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3175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3187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实战应用：LED闪烁实验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3937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3949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715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什么是最小系统板？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524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19200" y="1524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19200" y="19304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仅包含MCU正常工作所必需的最基本电路集合，是让MCU“活”起来的最小单元。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19200" y="2794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3251200"/>
            <a:ext cx="203200" cy="203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74800" y="32512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精简：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去除非必要外设，保留核心功能。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3708400"/>
            <a:ext cx="203200" cy="203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74800" y="37084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元件数量少，制造成本相对较低。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4165600"/>
            <a:ext cx="203200" cy="203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74800" y="41656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功能单一：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专注于提供稳定可靠的运行环境。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724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19200" y="4724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219200" y="51308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MCU芯片、电源、时钟、复位、下载/调试电路。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89889">
            <a:off x="3937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rcRect t="12500" b="12500"/>
          <a:stretch>
            <a:fillRect/>
          </a:stretch>
        </p:blipFill>
        <p:spPr>
          <a:xfrm>
            <a:off x="6604000" y="1778000"/>
            <a:ext cx="4572000" cy="3429000"/>
          </a:xfrm>
          <a:prstGeom prst="roundRect">
            <a:avLst>
              <a:gd name="adj" fmla="val 4444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604000" y="5334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典型的STM32最小系统板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核心电路概览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6430" b="26430"/>
          <a:stretch>
            <a:fillRect/>
          </a:stretch>
        </p:blipFill>
        <p:spPr>
          <a:xfrm>
            <a:off x="762000" y="1524000"/>
            <a:ext cx="5334000" cy="3556000"/>
          </a:xfrm>
          <a:prstGeom prst="rect">
            <a:avLst/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2705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围绕中心MCU，五大核心电路模块各司其职，共同构成一个完整的、可独立运行的最小系统。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316">
            <a:off x="4222750" y="3771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0" y="165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366000" y="16637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电源电路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366000" y="20066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为整个系统提供稳定可靠的能源。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260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26162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时钟电路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366000" y="29591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提供精准节拍，驱动MCU指令执行。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3556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66000" y="35687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复位电路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66000" y="39116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实现系统重启，恢复初始状态。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0" y="4508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45212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启动电路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48641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决定程序从何处开始运行。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8000" y="5461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66000" y="54737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下载电路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58166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连接电脑，用于程序烧录与调试。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核心电路解析：电源电路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30113" b="30113"/>
          <a:stretch>
            <a:fillRect/>
          </a:stretch>
        </p:blipFill>
        <p:spPr>
          <a:xfrm>
            <a:off x="762000" y="1549400"/>
            <a:ext cx="5080000" cy="2857500"/>
          </a:xfrm>
          <a:prstGeom prst="roundRect">
            <a:avLst>
              <a:gd name="adj" fmla="val 3555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0" y="15494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为系统提供稳定的“血液”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0" y="215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858000" y="2171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2540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将外部输入电压（如5V USB）转换为MCU稳定工作的3.3V电压。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33528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3365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核心元件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37338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AMS1117-3.3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低压差线性稳压器。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4546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45593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工作原理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8000" y="4927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通过内部基准与误差放大器，实时检测并调整输出，确保电压恒定。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核心电路解析：电源电路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6315" b="26315"/>
          <a:stretch>
            <a:fillRect/>
          </a:stretch>
        </p:blipFill>
        <p:spPr>
          <a:xfrm>
            <a:off x="762000" y="1651000"/>
            <a:ext cx="4826000" cy="2286000"/>
          </a:xfrm>
          <a:prstGeom prst="roundRect">
            <a:avLst>
              <a:gd name="adj" fmla="val 6666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4191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93800" y="4216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AMS1117-3.3 稳压器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6990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电源电路的核心，将5V电压降至3.3V。三个引脚分别为VIN（输入）、GND（地）和VOUT（输出）。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8910">
            <a:off x="4127500" y="3613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26315" b="26315"/>
          <a:stretch>
            <a:fillRect/>
          </a:stretch>
        </p:blipFill>
        <p:spPr>
          <a:xfrm>
            <a:off x="6604000" y="1651000"/>
            <a:ext cx="4826000" cy="2286000"/>
          </a:xfrm>
          <a:prstGeom prst="roundRect">
            <a:avLst>
              <a:gd name="adj" fmla="val 6666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419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35800" y="4216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USB Type-C 接口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46990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常用的供电和数据传输接口，为开发板提供便捷的5V电源输入。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核心电路解析：时钟电路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为系统提供精准的“心跳”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33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如果说电源是血液，那么时钟信号就是系统的“心跳”。它为MCU内部的所有操作提供了统一的时间基准，确保指令能够按照正确的顺序和速度执行。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334000" cy="1397000"/>
          </a:xfrm>
          <a:prstGeom prst="roundRect">
            <a:avLst>
              <a:gd name="adj" fmla="val 7272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23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238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高速外部晶振 (HSE)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60500" y="3619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频率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8MHz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，为CPU提供高性能运行频率。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635500"/>
            <a:ext cx="5334000" cy="1397000"/>
          </a:xfrm>
          <a:prstGeom prst="roundRect">
            <a:avLst>
              <a:gd name="adj" fmla="val 7272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82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826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低速外部晶振 (LSE)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60500" y="5207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频率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32.768kHz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，驱动RTC，低功耗计时。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90316">
            <a:off x="4095750" y="3771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1524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时钟电路原理图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rcRect t="23484" b="23484"/>
          <a:stretch>
            <a:fillRect/>
          </a:stretch>
        </p:blipFill>
        <p:spPr>
          <a:xfrm>
            <a:off x="6604000" y="2032000"/>
            <a:ext cx="4826000" cy="3619500"/>
          </a:xfrm>
          <a:prstGeom prst="rect">
            <a:avLst/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604000" y="5778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STM32最小系统板时钟电路示意图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核心电路解析：时钟电路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7105" b="17105"/>
          <a:stretch>
            <a:fillRect/>
          </a:stretch>
        </p:blipFill>
        <p:spPr>
          <a:xfrm>
            <a:off x="762000" y="1549400"/>
            <a:ext cx="4826000" cy="3175000"/>
          </a:xfrm>
          <a:prstGeom prst="roundRect">
            <a:avLst>
              <a:gd name="adj" fmla="val 4800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851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8MHz 无源晶振实物图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0" y="15494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关键元件介绍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184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553200" y="2184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晶振 (Crystal Oscillator)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53200" y="25908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利用石英晶体的压电效应，产生频率稳定的电信号，是电路的“节拍器”。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185">
            <a:off x="6096008" y="3549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3810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553200" y="3810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负载电容 (Load Capacitor)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53200" y="4216400"/>
            <a:ext cx="482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与晶振共同构成振荡回路，微调振荡频率，使其精确达到标称值。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5207000"/>
            <a:ext cx="5334000" cy="6096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9200" y="53848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05600" y="53721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常见容值：22pF (如 C10, C11)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核心电路解析：复位电路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59" b="259"/>
          <a:stretch>
            <a:fillRect/>
          </a:stretch>
        </p:blipFill>
        <p:spPr>
          <a:xfrm>
            <a:off x="762000" y="1524000"/>
            <a:ext cx="5080000" cy="3721100"/>
          </a:xfrm>
          <a:prstGeom prst="roundRect">
            <a:avLst>
              <a:gd name="adj" fmla="val 2730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975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典型RC复位电路原理图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4000500" y="3613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1524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让系统“重启”的按钮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20828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08800" y="2082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08800" y="2438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在特定情况下将MCU状态恢复到初始状态，重新执行程序。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149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08800" y="3149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08800" y="3505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上电复位：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通电自动复位。</a:t>
            </a: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手动复位：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按键触发复位。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216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08800" y="4216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工作原理 (RC电路)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08800" y="4572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上电时电容充电产生高电平复位信号；按键按下时电容放电，再次触发复位。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核心电路解析：复位电路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8333" b="8333"/>
          <a:stretch>
            <a:fillRect/>
          </a:stretch>
        </p:blipFill>
        <p:spPr>
          <a:xfrm>
            <a:off x="762000" y="1587500"/>
            <a:ext cx="5080000" cy="3175000"/>
          </a:xfrm>
          <a:prstGeom prst="roundRect">
            <a:avLst>
              <a:gd name="adj" fmla="val 4800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0" y="1587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关键元件介绍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0" y="2222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858000" y="2235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复位按钮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26035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一个常开机械开关，按下时导通电路，为电容提供放电回路。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342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34417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3810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实现延时功能，充放电时间决定复位信号的持续时长。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463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4648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8000" y="50165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限制充放电电流并作为上拉电阻，确保电路稳定。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62000" y="5905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复位按钮、电容、电阻构成了复位电路稳定可靠的“铁三角”。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核心电路解析：启动电路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7903" b="27903"/>
          <a:stretch>
            <a:fillRect/>
          </a:stretch>
        </p:blipFill>
        <p:spPr>
          <a:xfrm>
            <a:off x="762000" y="1524000"/>
            <a:ext cx="5080000" cy="3175000"/>
          </a:xfrm>
          <a:prstGeom prst="roundRect">
            <a:avLst>
              <a:gd name="adj" fmla="val 3200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223000" y="1524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决定系统从哪里“开始”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23000" y="19685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启动电路决定MCU复位后从哪个存储区执行程序，如同电脑选择从硬盘或U盘启动。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223000" y="2667000"/>
          <a:ext cx="5334000" cy="2603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762000"/>
                <a:gridCol w="1524000"/>
                <a:gridCol w="2286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BOOT1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BOOT0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启动模式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X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主闪存存储器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正常运行模式</a:t>
                      </a: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，程序从Flash启动。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系统存储器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串口下载模式(ISP)</a:t>
                      </a: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，用于下载程序。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内置SRAM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调试模式</a:t>
                      </a: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，程序在RAM中运行。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762000" y="4953000"/>
            <a:ext cx="5080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1A1A2E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5524500"/>
            <a:ext cx="5334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FFF">
                  <a:alpha val="100000"/>
                </a:srgbClr>
              </a:gs>
              <a:gs pos="100000">
                <a:srgbClr val="1A1A2E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核心电路解析：下载电路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7903" b="27903"/>
          <a:stretch>
            <a:fillRect/>
          </a:stretch>
        </p:blipFill>
        <p:spPr>
          <a:xfrm>
            <a:off x="762000" y="1524000"/>
            <a:ext cx="5080000" cy="3175000"/>
          </a:xfrm>
          <a:prstGeom prst="rect">
            <a:avLst/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0" y="1524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与电脑“对话”的桥梁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19685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下载电路是将程序代码传输到MCU内部Flash的通道，是连接开发者与硬件的桥梁。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2667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常用方式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0" y="3111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731000" y="3111500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SWD (Serial Wire Debug)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3429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主流方式，仅需2线 (SWCLK, SWDIO) 实现高速下载与调试。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4127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31000" y="4127500"/>
            <a:ext cx="495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UART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731000" y="4445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传统方式，通过串口传输，需USB-TTL转换模块。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494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2000" y="5207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核心引脚 (SWD模式)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5651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143000" y="56515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SWCLK：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串行时钟线，用于同步数据传输。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0" y="5651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477000" y="56515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SWDIO：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串行数据线，用于双向传输数据和命令。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9812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1270000" y="4203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3"/>
            </p:custDataLst>
          </p:nvPr>
        </p:nvSpPr>
        <p:spPr>
          <a:xfrm>
            <a:off x="1270000" y="4533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4"/>
            </p:custDataLst>
          </p:nvPr>
        </p:nvSpPr>
        <p:spPr>
          <a:xfrm>
            <a:off x="1270000" y="5092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5"/>
            </p:custDataLst>
          </p:nvPr>
        </p:nvSpPr>
        <p:spPr>
          <a:xfrm>
            <a:off x="1270000" y="5422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89582">
            <a:off x="4000500" y="3613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604000" y="56515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22" name="图片 21" descr="123456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7075" y="920750"/>
            <a:ext cx="8197850" cy="5016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9812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1270000" y="4203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3"/>
            </p:custDataLst>
          </p:nvPr>
        </p:nvSpPr>
        <p:spPr>
          <a:xfrm>
            <a:off x="1270000" y="4533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4"/>
            </p:custDataLst>
          </p:nvPr>
        </p:nvSpPr>
        <p:spPr>
          <a:xfrm>
            <a:off x="1270000" y="5092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5"/>
            </p:custDataLst>
          </p:nvPr>
        </p:nvSpPr>
        <p:spPr>
          <a:xfrm>
            <a:off x="1270000" y="5422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89582">
            <a:off x="4000500" y="3613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604000" y="56515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10" name="图片 9" descr="123456789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850" y="1958975"/>
            <a:ext cx="7226300" cy="2940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9812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1270000" y="4203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3"/>
            </p:custDataLst>
          </p:nvPr>
        </p:nvSpPr>
        <p:spPr>
          <a:xfrm>
            <a:off x="1270000" y="4533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4"/>
            </p:custDataLst>
          </p:nvPr>
        </p:nvSpPr>
        <p:spPr>
          <a:xfrm>
            <a:off x="1270000" y="50927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5"/>
            </p:custDataLst>
          </p:nvPr>
        </p:nvSpPr>
        <p:spPr>
          <a:xfrm>
            <a:off x="1270000" y="54229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89582">
            <a:off x="4000500" y="3613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604000" y="56515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9" name="图片 8" descr="123456789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" y="0"/>
            <a:ext cx="94335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7. 总结与展望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核心知识点回顾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159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1844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电源电路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7000" y="2540000"/>
            <a:ext cx="990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为系统提供稳定、纯净的工作电压，是系统的“血液”。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0734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0988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时钟电路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3454400"/>
            <a:ext cx="990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为系统提供精准的时序信号，是系统的“心跳”。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987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0132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复位电路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97000" y="4368800"/>
            <a:ext cx="990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在系统上电或异常时恢复初始状态，是系统的“重启键”。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9022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9276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启动电路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397000" y="5283200"/>
            <a:ext cx="990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决定MCU从哪个存储区域开始执行程序，是系统的“启动选择器”。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58166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58420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下载电路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7. 总结与展望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473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无处不在的应用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828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2336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625600" y="2387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智能家居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46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智能灯泡、插座及家庭网关的核心。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828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99000" y="2336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308600" y="2387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工业控制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946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自动化生产线、数据采集终端的大脑。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828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82000" y="2336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991600" y="2387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物联网 (IoT)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946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传感器节点与无线通信模块的基础。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1148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4368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1625600" y="4419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4978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运动控制与姿态感知的嵌入式核心。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445000" y="41148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99000" y="4368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5308600" y="4419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可穿戴设备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99000" y="4978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智能手表、手环的低功耗解决方案。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28000" y="41148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43688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991600" y="4419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82000" y="49784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探索更广阔的嵌入式世界。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7. 总结与展望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4732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下一步学习建议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080000" cy="1905000"/>
          </a:xfrm>
          <a:prstGeom prst="roundRect">
            <a:avLst>
              <a:gd name="adj" fmla="val 5333"/>
            </a:avLst>
          </a:prstGeom>
          <a:solidFill>
            <a:srgbClr val="2A2A44">
              <a:alpha val="7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86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外设驱动开发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7178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UART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I2C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SPI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等外设，连接LCD、传感器等模块。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032000"/>
            <a:ext cx="5080000" cy="1905000"/>
          </a:xfrm>
          <a:prstGeom prst="roundRect">
            <a:avLst>
              <a:gd name="adj" fmla="val 5333"/>
            </a:avLst>
          </a:prstGeom>
          <a:solidFill>
            <a:srgbClr val="2A2A44">
              <a:alpha val="7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2286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实时操作系统 (RTOS)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112000" y="27178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FreeRTOS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RT-Thread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，高效管理复杂多任务程序。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080000" cy="1905000"/>
          </a:xfrm>
          <a:prstGeom prst="roundRect">
            <a:avLst>
              <a:gd name="adj" fmla="val 5333"/>
            </a:avLst>
          </a:prstGeom>
          <a:solidFill>
            <a:srgbClr val="2A2A44">
              <a:alpha val="7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44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高级通信协议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48768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USB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以太网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总线，增强设备联网与交互能力。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4191000"/>
            <a:ext cx="5080000" cy="1905000"/>
          </a:xfrm>
          <a:prstGeom prst="roundRect">
            <a:avLst>
              <a:gd name="adj" fmla="val 5333"/>
            </a:avLst>
          </a:prstGeom>
          <a:solidFill>
            <a:srgbClr val="2A2A44">
              <a:alpha val="7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445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44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低功耗设计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48768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学习分析和优化系统功耗，是开发电池供电便携式设备的关键。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34925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81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再次感谢大家的参与！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86000" y="2286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111500"/>
            <a:ext cx="1016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4762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0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| THANK YOU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2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3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4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5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6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7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8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9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10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11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ags/tag12.xml><?xml version="1.0" encoding="utf-8"?>
<p:tagLst xmlns:p="http://schemas.openxmlformats.org/presentationml/2006/main">
  <p:tag name="KSO_WM_DIAGRAM_VIRTUALLY_FRAME" val="{&quot;height&quot;:186,&quot;left&quot;:100,&quot;top&quot;:261,&quot;width&quot;:36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2112</Words>
  <Application>WPS 演示</Application>
  <PresentationFormat/>
  <Paragraphs>304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Arial</vt:lpstr>
      <vt:lpstr>Noto Sans SC</vt:lpstr>
      <vt:lpstr>Poppins</vt:lpstr>
      <vt:lpstr>Segoe Print</vt:lpstr>
      <vt:lpstr>微软雅黑</vt:lpstr>
      <vt:lpstr>Arial Unicode MS</vt:lpstr>
      <vt:lpstr>Roboto Mono</vt:lpstr>
      <vt:lpstr>Roboto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尴尬</cp:lastModifiedBy>
  <cp:revision>3</cp:revision>
  <dcterms:created xsi:type="dcterms:W3CDTF">2025-12-25T02:33:00Z</dcterms:created>
  <dcterms:modified xsi:type="dcterms:W3CDTF">2025-12-26T05:01:44Z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B2B61DC9212A4AD684BC37BD53750A8B_12</vt:lpwstr>
  </property>
  <property fmtid="{D5CDD505-2E9C-101B-9397-08002B2CF9AE}" pid="3" name="KSOProductBuildVer">
    <vt:lpwstr>2052-12.1.0.24034</vt:lpwstr>
  </property>
</Properties>
</file>